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73" r:id="rId5"/>
    <p:sldId id="265" r:id="rId6"/>
    <p:sldId id="266" r:id="rId7"/>
    <p:sldId id="267" r:id="rId8"/>
    <p:sldId id="268" r:id="rId9"/>
    <p:sldId id="271" r:id="rId10"/>
    <p:sldId id="272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51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C0C4C-6E06-4D4D-83C2-FCDD15E784F2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EF213-882D-4E2E-8D74-4D5FA49D7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77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33" y="286725"/>
            <a:ext cx="2183034" cy="66479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dirty="0" err="1" smtClean="0">
                <a:solidFill>
                  <a:srgbClr val="FFFFFF"/>
                </a:solidFill>
              </a:rPr>
              <a:t>Anna</a:t>
            </a:r>
            <a:r>
              <a:rPr lang="en-US" sz="3600" b="1" dirty="0" err="1" smtClean="0">
                <a:solidFill>
                  <a:srgbClr val="FFFFFF"/>
                </a:solidFill>
              </a:rPr>
              <a:t>m</a:t>
            </a:r>
            <a:r>
              <a:rPr sz="3600" b="1" dirty="0" err="1" smtClean="0">
                <a:solidFill>
                  <a:srgbClr val="FFFFFF"/>
                </a:solidFill>
              </a:rPr>
              <a:t>itra</a:t>
            </a:r>
            <a:endParaRPr sz="36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6733" y="1209930"/>
            <a:ext cx="10858228" cy="714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950"/>
              </a:spcAft>
            </a:pPr>
            <a:r>
              <a:rPr sz="3588" b="1">
                <a:solidFill>
                  <a:srgbClr val="2E7D32"/>
                </a:solidFill>
              </a:rPr>
              <a:t>Anna Mitra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196780"/>
            <a:ext cx="3362240" cy="3200400"/>
          </a:xfrm>
          <a:prstGeom prst="roundRect">
            <a:avLst>
              <a:gd name="adj" fmla="val 7142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4852" y="1434906"/>
            <a:ext cx="2886002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2E7D32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2E7D32"/>
                </a:solidFill>
              </a:rPr>
              <a:t> Team Details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4852" y="1514833"/>
            <a:ext cx="266693" cy="14494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52" y="1999738"/>
            <a:ext cx="228594" cy="1657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28694" y="1873056"/>
            <a:ext cx="2295467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Team Leader &amp; Scrum Master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6318" y="2111180"/>
            <a:ext cx="224784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</a:rPr>
              <a:t>Mohit Pipaliya (202412072)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852" y="2555522"/>
            <a:ext cx="228594" cy="1971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28694" y="2444556"/>
            <a:ext cx="1981150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Product 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6318" y="2682680"/>
            <a:ext cx="193352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</a:rPr>
              <a:t>Kashish Sorathiya (202412035)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4852" y="3137023"/>
            <a:ext cx="228594" cy="1771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28694" y="3016055"/>
            <a:ext cx="1809704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Solution Architect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6318" y="3254181"/>
            <a:ext cx="176208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</a:rPr>
              <a:t>Anirudh Lohiya (202412074)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4852" y="3728526"/>
            <a:ext cx="228594" cy="13715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28694" y="3587555"/>
            <a:ext cx="1752556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DevOps 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6318" y="3825681"/>
            <a:ext cx="170493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</a:rPr>
              <a:t>Mohit Pipaliya (202412072)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9964" y="1196780"/>
            <a:ext cx="3362240" cy="3200400"/>
          </a:xfrm>
          <a:prstGeom prst="roundRect">
            <a:avLst>
              <a:gd name="adj" fmla="val 7142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48083" y="1434906"/>
            <a:ext cx="2886002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2E7D32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2E7D32"/>
                </a:solidFill>
              </a:rPr>
              <a:t> UI/UX Designers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48083" y="1474248"/>
            <a:ext cx="266693" cy="22611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8083" y="1904488"/>
            <a:ext cx="228594" cy="16573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71925" y="1873056"/>
            <a:ext cx="227641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Rajvi Dhameliya (202412018)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8083" y="2409313"/>
            <a:ext cx="228594" cy="16573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971925" y="2254055"/>
            <a:ext cx="2562160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Kashish Khubchandani (202412034)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62720" y="1196780"/>
            <a:ext cx="3362240" cy="3200400"/>
          </a:xfrm>
          <a:prstGeom prst="roundRect">
            <a:avLst>
              <a:gd name="adj" fmla="val 7142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00839" y="1434906"/>
            <a:ext cx="2886002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2E7D32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2E7D32"/>
                </a:solidFill>
              </a:rPr>
              <a:t> Business Analyst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00839" y="1482945"/>
            <a:ext cx="266693" cy="208721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0839" y="2028313"/>
            <a:ext cx="228594" cy="16573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724681" y="1873056"/>
            <a:ext cx="2562160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Kashish Khubchandani (202412034)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6733" y="4568112"/>
            <a:ext cx="3362240" cy="2057400"/>
          </a:xfrm>
          <a:prstGeom prst="roundRect">
            <a:avLst>
              <a:gd name="adj" fmla="val 11111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4852" y="4670309"/>
            <a:ext cx="2886002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2E7D32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2E7D32"/>
                </a:solidFill>
              </a:rPr>
              <a:t> Frontend Developers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04852" y="4727045"/>
            <a:ext cx="266693" cy="191328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52" y="5139892"/>
            <a:ext cx="228594" cy="16573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28694" y="5108460"/>
            <a:ext cx="1962100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Honey Patel (202412067)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52" y="5520892"/>
            <a:ext cx="228594" cy="16573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228694" y="5489460"/>
            <a:ext cx="1924001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Bhumi Vyas (202412123)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09964" y="4568112"/>
            <a:ext cx="3362240" cy="2057400"/>
          </a:xfrm>
          <a:prstGeom prst="roundRect">
            <a:avLst>
              <a:gd name="adj" fmla="val 11111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48083" y="4670309"/>
            <a:ext cx="2886002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2E7D32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2E7D32"/>
                </a:solidFill>
              </a:rPr>
              <a:t> Backend Developers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48083" y="4750237"/>
            <a:ext cx="266693" cy="14494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8083" y="5139892"/>
            <a:ext cx="228594" cy="16573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971925" y="5108460"/>
            <a:ext cx="2514537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Hardip Muliyashiya (202412021)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8083" y="5520892"/>
            <a:ext cx="228594" cy="16573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971925" y="5489460"/>
            <a:ext cx="2304992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Aakash Odedara (202412053)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8083" y="5901892"/>
            <a:ext cx="228594" cy="16573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971925" y="5870459"/>
            <a:ext cx="2419289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Kashish Sorathiya (202412035)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62720" y="4568112"/>
            <a:ext cx="3362240" cy="2057400"/>
          </a:xfrm>
          <a:prstGeom prst="roundRect">
            <a:avLst>
              <a:gd name="adj" fmla="val 11111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00839" y="4670309"/>
            <a:ext cx="2886002" cy="2952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2E7D32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2E7D32"/>
                </a:solidFill>
              </a:rPr>
              <a:t> Technical Writer 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400839" y="4709652"/>
            <a:ext cx="266693" cy="22611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0839" y="5139892"/>
            <a:ext cx="228594" cy="16573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724681" y="5108460"/>
            <a:ext cx="2276418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Rajvi Dhameliya (202412018)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1980" y="8258175"/>
            <a:ext cx="10762980" cy="285750"/>
          </a:xfrm>
          <a:prstGeom prst="roundRect">
            <a:avLst>
              <a:gd name="adj" fmla="val 133333"/>
            </a:avLst>
          </a:prstGeom>
          <a:solidFill>
            <a:srgbClr val="2E7D3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61980" y="8258175"/>
            <a:ext cx="10762980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Group 6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7701" y="-34748"/>
            <a:ext cx="12425816" cy="693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5434" y="523874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363" y="1233104"/>
            <a:ext cx="11230254" cy="557582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solidFill>
                  <a:srgbClr val="006600"/>
                </a:solidFill>
              </a:rPr>
              <a:t>A digital platform connecting </a:t>
            </a:r>
            <a:r>
              <a:rPr lang="en-US" sz="2400" b="1" dirty="0">
                <a:solidFill>
                  <a:srgbClr val="006600"/>
                </a:solidFill>
              </a:rPr>
              <a:t>donors</a:t>
            </a:r>
            <a:r>
              <a:rPr lang="en-US" sz="2400" dirty="0">
                <a:solidFill>
                  <a:srgbClr val="006600"/>
                </a:solidFill>
              </a:rPr>
              <a:t>, </a:t>
            </a:r>
            <a:r>
              <a:rPr lang="en-US" sz="2400" b="1" dirty="0">
                <a:solidFill>
                  <a:srgbClr val="006600"/>
                </a:solidFill>
              </a:rPr>
              <a:t>NGOs</a:t>
            </a:r>
            <a:r>
              <a:rPr lang="en-US" sz="2400" dirty="0">
                <a:solidFill>
                  <a:srgbClr val="006600"/>
                </a:solidFill>
              </a:rPr>
              <a:t>, and </a:t>
            </a:r>
            <a:r>
              <a:rPr lang="en-US" sz="2400" b="1" dirty="0">
                <a:solidFill>
                  <a:srgbClr val="006600"/>
                </a:solidFill>
              </a:rPr>
              <a:t>administrators</a:t>
            </a:r>
            <a:r>
              <a:rPr lang="en-US" sz="2400" dirty="0">
                <a:solidFill>
                  <a:srgbClr val="006600"/>
                </a:solidFill>
              </a:rPr>
              <a:t> to streamline </a:t>
            </a:r>
            <a:r>
              <a:rPr lang="en-US" sz="2400" dirty="0" smtClean="0">
                <a:solidFill>
                  <a:srgbClr val="006600"/>
                </a:solidFill>
              </a:rPr>
              <a:t/>
            </a:r>
            <a:br>
              <a:rPr lang="en-US" sz="2400" dirty="0" smtClean="0">
                <a:solidFill>
                  <a:srgbClr val="006600"/>
                </a:solidFill>
              </a:rPr>
            </a:br>
            <a:r>
              <a:rPr lang="en-US" sz="2400" dirty="0" smtClean="0">
                <a:solidFill>
                  <a:srgbClr val="006600"/>
                </a:solidFill>
              </a:rPr>
              <a:t>food </a:t>
            </a:r>
            <a:r>
              <a:rPr lang="en-US" sz="2400" dirty="0">
                <a:solidFill>
                  <a:srgbClr val="006600"/>
                </a:solidFill>
              </a:rPr>
              <a:t>donation</a:t>
            </a:r>
            <a:r>
              <a:rPr lang="en-US" sz="2400" dirty="0" smtClean="0">
                <a:solidFill>
                  <a:srgbClr val="006600"/>
                </a:solidFill>
              </a:rPr>
              <a:t>.</a:t>
            </a:r>
            <a:br>
              <a:rPr lang="en-US" sz="2400" dirty="0" smtClean="0">
                <a:solidFill>
                  <a:srgbClr val="006600"/>
                </a:solidFill>
              </a:rPr>
            </a:br>
            <a:endParaRPr lang="en-US" sz="2400" dirty="0">
              <a:solidFill>
                <a:srgbClr val="006600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solidFill>
                  <a:srgbClr val="006600"/>
                </a:solidFill>
              </a:rPr>
              <a:t>Ensures </a:t>
            </a:r>
            <a:r>
              <a:rPr lang="en-US" sz="2400" b="1" dirty="0">
                <a:solidFill>
                  <a:srgbClr val="006600"/>
                </a:solidFill>
              </a:rPr>
              <a:t>efficient food distribution</a:t>
            </a:r>
            <a:r>
              <a:rPr lang="en-US" sz="2400" dirty="0">
                <a:solidFill>
                  <a:srgbClr val="006600"/>
                </a:solidFill>
              </a:rPr>
              <a:t> by reducing wastage and feeding those in need</a:t>
            </a:r>
            <a:r>
              <a:rPr lang="en-US" sz="2400" dirty="0" smtClean="0">
                <a:solidFill>
                  <a:srgbClr val="006600"/>
                </a:solidFill>
              </a:rPr>
              <a:t>.</a:t>
            </a:r>
            <a:br>
              <a:rPr lang="en-US" sz="2400" dirty="0" smtClean="0">
                <a:solidFill>
                  <a:srgbClr val="006600"/>
                </a:solidFill>
              </a:rPr>
            </a:br>
            <a:endParaRPr lang="en-US" sz="2400" dirty="0">
              <a:solidFill>
                <a:srgbClr val="006600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solidFill>
                  <a:srgbClr val="006600"/>
                </a:solidFill>
              </a:rPr>
              <a:t>Provides </a:t>
            </a:r>
            <a:r>
              <a:rPr lang="en-US" sz="2400" b="1" dirty="0">
                <a:solidFill>
                  <a:srgbClr val="006600"/>
                </a:solidFill>
              </a:rPr>
              <a:t>real-time donation tracking</a:t>
            </a:r>
            <a:r>
              <a:rPr lang="en-US" sz="2400" dirty="0">
                <a:solidFill>
                  <a:srgbClr val="006600"/>
                </a:solidFill>
              </a:rPr>
              <a:t> and </a:t>
            </a:r>
            <a:r>
              <a:rPr lang="en-US" sz="2400" b="1" dirty="0">
                <a:solidFill>
                  <a:srgbClr val="006600"/>
                </a:solidFill>
              </a:rPr>
              <a:t>status updates</a:t>
            </a:r>
            <a:r>
              <a:rPr lang="en-US" sz="2400" dirty="0">
                <a:solidFill>
                  <a:srgbClr val="006600"/>
                </a:solidFill>
              </a:rPr>
              <a:t> to all users</a:t>
            </a:r>
            <a:r>
              <a:rPr lang="en-US" sz="2400" dirty="0" smtClean="0">
                <a:solidFill>
                  <a:srgbClr val="006600"/>
                </a:solidFill>
              </a:rPr>
              <a:t>.</a:t>
            </a:r>
            <a:br>
              <a:rPr lang="en-US" sz="2400" dirty="0" smtClean="0">
                <a:solidFill>
                  <a:srgbClr val="006600"/>
                </a:solidFill>
              </a:rPr>
            </a:br>
            <a:endParaRPr lang="en-US" sz="2400" dirty="0">
              <a:solidFill>
                <a:srgbClr val="006600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solidFill>
                  <a:srgbClr val="006600"/>
                </a:solidFill>
              </a:rPr>
              <a:t>Supports </a:t>
            </a:r>
            <a:r>
              <a:rPr lang="en-US" sz="2400" b="1" dirty="0">
                <a:solidFill>
                  <a:srgbClr val="006600"/>
                </a:solidFill>
              </a:rPr>
              <a:t>role-based access</a:t>
            </a:r>
            <a:r>
              <a:rPr lang="en-US" sz="2400" dirty="0">
                <a:solidFill>
                  <a:srgbClr val="006600"/>
                </a:solidFill>
              </a:rPr>
              <a:t> for donors, NGOs, and admins with secure authentication</a:t>
            </a:r>
            <a:r>
              <a:rPr lang="en-US" sz="2400" dirty="0" smtClean="0">
                <a:solidFill>
                  <a:srgbClr val="006600"/>
                </a:solidFill>
              </a:rPr>
              <a:t>.</a:t>
            </a:r>
            <a:br>
              <a:rPr lang="en-US" sz="2400" dirty="0" smtClean="0">
                <a:solidFill>
                  <a:srgbClr val="006600"/>
                </a:solidFill>
              </a:rPr>
            </a:br>
            <a:endParaRPr lang="en-US" sz="2400" dirty="0">
              <a:solidFill>
                <a:srgbClr val="006600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solidFill>
                  <a:srgbClr val="006600"/>
                </a:solidFill>
              </a:rPr>
              <a:t>Automates </a:t>
            </a:r>
            <a:r>
              <a:rPr lang="en-US" sz="2400" b="1" dirty="0">
                <a:solidFill>
                  <a:srgbClr val="006600"/>
                </a:solidFill>
              </a:rPr>
              <a:t>notifications</a:t>
            </a:r>
            <a:r>
              <a:rPr lang="en-US" sz="2400" dirty="0">
                <a:solidFill>
                  <a:srgbClr val="006600"/>
                </a:solidFill>
              </a:rPr>
              <a:t> for donation status, approvals, and feedback</a:t>
            </a:r>
            <a:r>
              <a:rPr lang="en-US" sz="2400" dirty="0" smtClean="0">
                <a:solidFill>
                  <a:srgbClr val="006600"/>
                </a:solidFill>
              </a:rPr>
              <a:t>.</a:t>
            </a:r>
            <a:br>
              <a:rPr lang="en-US" sz="2400" dirty="0" smtClean="0">
                <a:solidFill>
                  <a:srgbClr val="006600"/>
                </a:solidFill>
              </a:rPr>
            </a:br>
            <a:endParaRPr lang="en-US" sz="2400" dirty="0">
              <a:solidFill>
                <a:srgbClr val="006600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solidFill>
                  <a:srgbClr val="006600"/>
                </a:solidFill>
              </a:rPr>
              <a:t>Includes </a:t>
            </a:r>
            <a:r>
              <a:rPr lang="en-US" sz="2400" b="1" dirty="0">
                <a:solidFill>
                  <a:srgbClr val="006600"/>
                </a:solidFill>
              </a:rPr>
              <a:t>feedback and inquiry modules</a:t>
            </a:r>
            <a:r>
              <a:rPr lang="en-US" sz="2400" dirty="0">
                <a:solidFill>
                  <a:srgbClr val="006600"/>
                </a:solidFill>
              </a:rPr>
              <a:t> to improve transparency and engagement</a:t>
            </a:r>
            <a:r>
              <a:rPr lang="en-US" sz="2400" dirty="0" smtClean="0">
                <a:solidFill>
                  <a:srgbClr val="006600"/>
                </a:solidFill>
              </a:rPr>
              <a:t>.</a:t>
            </a:r>
            <a:br>
              <a:rPr lang="en-US" sz="2400" dirty="0" smtClean="0">
                <a:solidFill>
                  <a:srgbClr val="006600"/>
                </a:solidFill>
              </a:rPr>
            </a:br>
            <a:endParaRPr lang="en-US" sz="2400" dirty="0">
              <a:solidFill>
                <a:srgbClr val="006600"/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solidFill>
                  <a:srgbClr val="006600"/>
                </a:solidFill>
              </a:rPr>
              <a:t>Built with a focus on </a:t>
            </a:r>
            <a:r>
              <a:rPr lang="en-US" sz="2400" b="1" dirty="0">
                <a:solidFill>
                  <a:srgbClr val="006600"/>
                </a:solidFill>
              </a:rPr>
              <a:t>scalability</a:t>
            </a:r>
            <a:r>
              <a:rPr lang="en-US" sz="2400" dirty="0">
                <a:solidFill>
                  <a:srgbClr val="006600"/>
                </a:solidFill>
              </a:rPr>
              <a:t>, </a:t>
            </a:r>
            <a:r>
              <a:rPr lang="en-US" sz="2400" b="1" dirty="0">
                <a:solidFill>
                  <a:srgbClr val="006600"/>
                </a:solidFill>
              </a:rPr>
              <a:t>usability</a:t>
            </a:r>
            <a:r>
              <a:rPr lang="en-US" sz="2400" dirty="0">
                <a:solidFill>
                  <a:srgbClr val="006600"/>
                </a:solidFill>
              </a:rPr>
              <a:t>, and </a:t>
            </a:r>
            <a:r>
              <a:rPr lang="en-US" sz="2400" b="1" dirty="0">
                <a:solidFill>
                  <a:srgbClr val="006600"/>
                </a:solidFill>
              </a:rPr>
              <a:t>social impact</a:t>
            </a:r>
            <a:r>
              <a:rPr lang="en-US" sz="2400" dirty="0">
                <a:solidFill>
                  <a:srgbClr val="006600"/>
                </a:solidFill>
              </a:rPr>
              <a:t>.</a:t>
            </a:r>
          </a:p>
          <a:p>
            <a:pPr marL="342900" indent="-342900" algn="ctr">
              <a:spcBef>
                <a:spcPts val="0"/>
              </a:spcBef>
              <a:spcAft>
                <a:spcPts val="1625"/>
              </a:spcAft>
              <a:buFont typeface="Wingdings" pitchFamily="2" charset="2"/>
              <a:buChar char="Ø"/>
            </a:pPr>
            <a:endParaRPr sz="1913" b="1" dirty="0">
              <a:solidFill>
                <a:srgbClr val="0066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9598" y="523874"/>
            <a:ext cx="1980927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r>
              <a:rPr lang="en-US" sz="2392" b="1" dirty="0" smtClean="0">
                <a:solidFill>
                  <a:srgbClr val="FFFFFF"/>
                </a:solidFill>
              </a:rPr>
              <a:t>System Design</a:t>
            </a:r>
            <a:endParaRPr sz="2392" b="1" dirty="0">
              <a:solidFill>
                <a:srgbClr val="FFFFFF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300" y="1616186"/>
            <a:ext cx="10058400" cy="4751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9598" y="523874"/>
            <a:ext cx="2697790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r>
              <a:rPr lang="en-US" sz="2392" b="1" dirty="0">
                <a:solidFill>
                  <a:srgbClr val="FFFFFF"/>
                </a:solidFill>
              </a:rPr>
              <a:t> Data Flow </a:t>
            </a:r>
            <a:r>
              <a:rPr lang="en-US" sz="2392" b="1" dirty="0" smtClean="0">
                <a:solidFill>
                  <a:srgbClr val="FFFFFF"/>
                </a:solidFill>
              </a:rPr>
              <a:t>Diagram</a:t>
            </a:r>
            <a:endParaRPr sz="2392" b="1" dirty="0">
              <a:solidFill>
                <a:srgbClr val="FFFFFF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43" y="1470112"/>
            <a:ext cx="10891807" cy="489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00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9598" y="523874"/>
            <a:ext cx="1607748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r>
              <a:rPr lang="en-US" sz="2392" b="1" dirty="0">
                <a:solidFill>
                  <a:srgbClr val="FFFFFF"/>
                </a:solidFill>
              </a:rPr>
              <a:t>ER Diagram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43" y="1368197"/>
            <a:ext cx="11912209" cy="504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9598" y="523874"/>
            <a:ext cx="1917128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r>
              <a:rPr lang="en-US" sz="2392" b="1" dirty="0" smtClean="0">
                <a:solidFill>
                  <a:srgbClr val="FFFFFF"/>
                </a:solidFill>
              </a:rPr>
              <a:t>Class </a:t>
            </a:r>
            <a:r>
              <a:rPr lang="en-US" sz="2392" b="1" dirty="0">
                <a:solidFill>
                  <a:srgbClr val="FFFFFF"/>
                </a:solidFill>
              </a:rPr>
              <a:t>Diagram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162" y="1156997"/>
            <a:ext cx="8902660" cy="5503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469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9598" y="523874"/>
            <a:ext cx="2064924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r>
              <a:rPr lang="en-US" sz="2392" b="1" dirty="0" smtClean="0">
                <a:solidFill>
                  <a:srgbClr val="FFFFFF"/>
                </a:solidFill>
              </a:rPr>
              <a:t>Schema Design</a:t>
            </a:r>
            <a:endParaRPr lang="en-US" sz="2392" b="1" dirty="0">
              <a:solidFill>
                <a:srgbClr val="FFFFFF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80990" y="1171575"/>
            <a:ext cx="2790755" cy="5508625"/>
          </a:xfrm>
          <a:prstGeom prst="roundRect">
            <a:avLst>
              <a:gd name="adj" fmla="val 8191"/>
            </a:avLst>
          </a:prstGeom>
          <a:solidFill>
            <a:srgbClr val="FFFFFF">
              <a:alpha val="85000"/>
            </a:srgbClr>
          </a:solidFill>
          <a:ln w="412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0669" y="1416922"/>
            <a:ext cx="1309526" cy="3316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 dirty="0">
                <a:solidFill>
                  <a:srgbClr val="2E7D32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2E7D32"/>
                </a:solidFill>
              </a:rPr>
              <a:t> </a:t>
            </a:r>
            <a:r>
              <a:rPr lang="en-US" sz="1435" b="1" dirty="0" smtClean="0">
                <a:solidFill>
                  <a:srgbClr val="2E7D32"/>
                </a:solidFill>
              </a:rPr>
              <a:t>  </a:t>
            </a:r>
            <a:r>
              <a:rPr sz="1435" b="1" dirty="0" smtClean="0">
                <a:solidFill>
                  <a:srgbClr val="2E7D32"/>
                </a:solidFill>
              </a:rPr>
              <a:t>Key </a:t>
            </a:r>
            <a:r>
              <a:rPr sz="1435" b="1" dirty="0">
                <a:solidFill>
                  <a:srgbClr val="2E7D32"/>
                </a:solidFill>
              </a:rPr>
              <a:t>Entities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9109" y="1495840"/>
            <a:ext cx="266693" cy="18234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19109" y="1854200"/>
            <a:ext cx="2314517" cy="533399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>
                <a:solidFill>
                  <a:srgbClr val="2E7D32"/>
                </a:solidFill>
              </a:rPr>
              <a:t>User:</a:t>
            </a:r>
            <a:r>
              <a:rPr sz="1196" b="0">
                <a:solidFill>
                  <a:srgbClr val="2C3E50"/>
                </a:solidFill>
              </a:rPr>
              <a:t> donors, NGOs, admins (role-based)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109" y="2501900"/>
            <a:ext cx="2314517" cy="800100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 dirty="0">
                <a:solidFill>
                  <a:srgbClr val="2E7D32"/>
                </a:solidFill>
              </a:rPr>
              <a:t>NGO:</a:t>
            </a:r>
            <a:r>
              <a:rPr sz="1196" b="0" dirty="0">
                <a:solidFill>
                  <a:srgbClr val="2C3E50"/>
                </a:solidFill>
              </a:rPr>
              <a:t> organizational profile (optionally mapped to a User)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109" y="3416299"/>
            <a:ext cx="2314517" cy="533399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 dirty="0">
                <a:solidFill>
                  <a:srgbClr val="2E7D32"/>
                </a:solidFill>
              </a:rPr>
              <a:t>Donation:</a:t>
            </a:r>
            <a:r>
              <a:rPr sz="1196" b="0" dirty="0">
                <a:solidFill>
                  <a:srgbClr val="2C3E50"/>
                </a:solidFill>
              </a:rPr>
              <a:t> food listing + lifecycle 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109" y="4063999"/>
            <a:ext cx="2314517" cy="1066799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 dirty="0">
                <a:solidFill>
                  <a:srgbClr val="2E7D32"/>
                </a:solidFill>
              </a:rPr>
              <a:t>Feedback:</a:t>
            </a:r>
            <a:r>
              <a:rPr sz="1196" b="0" dirty="0">
                <a:solidFill>
                  <a:srgbClr val="2C3E50"/>
                </a:solidFill>
              </a:rPr>
              <a:t> rating/comment from one user to another for a donation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109" y="5181600"/>
            <a:ext cx="2314517" cy="800100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 dirty="0">
                <a:solidFill>
                  <a:srgbClr val="2E7D32"/>
                </a:solidFill>
              </a:rPr>
              <a:t>Notification:</a:t>
            </a:r>
            <a:r>
              <a:rPr sz="1196" b="0" dirty="0">
                <a:solidFill>
                  <a:srgbClr val="2C3E50"/>
                </a:solidFill>
              </a:rPr>
              <a:t> system messages to users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109" y="6108699"/>
            <a:ext cx="2314517" cy="533399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 dirty="0">
                <a:solidFill>
                  <a:srgbClr val="2E7D32"/>
                </a:solidFill>
              </a:rPr>
              <a:t>Inquiry:</a:t>
            </a:r>
            <a:r>
              <a:rPr sz="1196" b="0" dirty="0">
                <a:solidFill>
                  <a:srgbClr val="2C3E50"/>
                </a:solidFill>
              </a:rPr>
              <a:t> contact/support requests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09864" y="1171575"/>
            <a:ext cx="2171645" cy="5508625"/>
          </a:xfrm>
          <a:prstGeom prst="roundRect">
            <a:avLst>
              <a:gd name="adj" fmla="val 10526"/>
            </a:avLst>
          </a:prstGeom>
          <a:solidFill>
            <a:srgbClr val="FFFFFF">
              <a:alpha val="85000"/>
            </a:srgbClr>
          </a:solidFill>
          <a:ln w="412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47983" y="1234586"/>
            <a:ext cx="1695407" cy="704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 dirty="0">
                <a:solidFill>
                  <a:srgbClr val="2E7D32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2E7D32"/>
                </a:solidFill>
              </a:rPr>
              <a:t> Core Relationships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4636" y="1495839"/>
            <a:ext cx="266693" cy="12755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647983" y="1831975"/>
            <a:ext cx="1695407" cy="533399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0" dirty="0">
                <a:solidFill>
                  <a:srgbClr val="2C3E50"/>
                </a:solidFill>
              </a:rPr>
              <a:t>User creates Donation </a:t>
            </a:r>
            <a:r>
              <a:rPr sz="1196" b="1" dirty="0">
                <a:solidFill>
                  <a:srgbClr val="2E7D32"/>
                </a:solidFill>
              </a:rPr>
              <a:t>(1:N)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47983" y="2517775"/>
            <a:ext cx="1695407" cy="1066799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0">
                <a:solidFill>
                  <a:srgbClr val="2C3E50"/>
                </a:solidFill>
              </a:rPr>
              <a:t>NGO assigned to Donation </a:t>
            </a:r>
            <a:r>
              <a:rPr sz="1196" b="1">
                <a:solidFill>
                  <a:srgbClr val="2E7D32"/>
                </a:solidFill>
              </a:rPr>
              <a:t>(1:N; nullable until claimed)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47983" y="3736975"/>
            <a:ext cx="1695407" cy="1066799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0">
                <a:solidFill>
                  <a:srgbClr val="2C3E50"/>
                </a:solidFill>
              </a:rPr>
              <a:t>User writes Feedback for Donation to another User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47983" y="4956175"/>
            <a:ext cx="1695407" cy="533399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0">
                <a:solidFill>
                  <a:srgbClr val="2C3E50"/>
                </a:solidFill>
              </a:rPr>
              <a:t>User receives Notifications </a:t>
            </a:r>
            <a:r>
              <a:rPr sz="1196" b="1">
                <a:solidFill>
                  <a:srgbClr val="2E7D32"/>
                </a:solidFill>
              </a:rPr>
              <a:t>(1:N)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47983" y="5641975"/>
            <a:ext cx="1695407" cy="800100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0">
                <a:solidFill>
                  <a:srgbClr val="2C3E50"/>
                </a:solidFill>
              </a:rPr>
              <a:t>User submits Inquiry </a:t>
            </a:r>
            <a:r>
              <a:rPr sz="1196" b="1">
                <a:solidFill>
                  <a:srgbClr val="2E7D32"/>
                </a:solidFill>
              </a:rPr>
              <a:t>(1:N; allow guest rows if needed)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19630" y="1171575"/>
            <a:ext cx="6152996" cy="5508625"/>
          </a:xfrm>
          <a:prstGeom prst="roundRect">
            <a:avLst>
              <a:gd name="adj" fmla="val 3625"/>
            </a:avLst>
          </a:prstGeom>
          <a:solidFill>
            <a:srgbClr val="FFFFFF">
              <a:alpha val="85000"/>
            </a:srgbClr>
          </a:solidFill>
          <a:ln w="412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95847" y="1382223"/>
            <a:ext cx="5914877" cy="4095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 dirty="0">
                <a:solidFill>
                  <a:srgbClr val="2E7D32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2E7D32"/>
                </a:solidFill>
              </a:rPr>
              <a:t> Design Principles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7748" y="1455254"/>
            <a:ext cx="266693" cy="20872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057748" y="2057400"/>
            <a:ext cx="5914877" cy="533399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>
                <a:solidFill>
                  <a:srgbClr val="2E7D32"/>
                </a:solidFill>
              </a:rPr>
              <a:t>3NF:</a:t>
            </a:r>
            <a:r>
              <a:rPr sz="1196" b="0">
                <a:solidFill>
                  <a:srgbClr val="2C3E50"/>
                </a:solidFill>
              </a:rPr>
              <a:t> attributes depend on the key, the whole key, and nothing but the key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57748" y="2743200"/>
            <a:ext cx="5914877" cy="533399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>
                <a:solidFill>
                  <a:srgbClr val="2E7D32"/>
                </a:solidFill>
              </a:rPr>
              <a:t>Status enums:</a:t>
            </a:r>
            <a:r>
              <a:rPr sz="1196" b="0">
                <a:solidFill>
                  <a:srgbClr val="2C3E50"/>
                </a:solidFill>
              </a:rPr>
              <a:t> </a:t>
            </a:r>
            <a:r>
              <a:rPr sz="1076" b="0">
                <a:solidFill>
                  <a:srgbClr val="2C3E50"/>
                </a:solidFill>
              </a:rPr>
              <a:t>Donation(AVAILABLE,REQUESTED,PICKED_UP,COMPLETED,CANCELLED)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57748" y="3429000"/>
            <a:ext cx="5914877" cy="323849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 dirty="0">
                <a:solidFill>
                  <a:srgbClr val="2E7D32"/>
                </a:solidFill>
              </a:rPr>
              <a:t>Status </a:t>
            </a:r>
            <a:r>
              <a:rPr sz="1196" b="1" dirty="0" err="1">
                <a:solidFill>
                  <a:srgbClr val="2E7D32"/>
                </a:solidFill>
              </a:rPr>
              <a:t>enums</a:t>
            </a:r>
            <a:r>
              <a:rPr sz="1196" b="1" dirty="0">
                <a:solidFill>
                  <a:srgbClr val="2E7D32"/>
                </a:solidFill>
              </a:rPr>
              <a:t>:</a:t>
            </a:r>
            <a:r>
              <a:rPr sz="1196" b="0" dirty="0">
                <a:solidFill>
                  <a:srgbClr val="2C3E50"/>
                </a:solidFill>
              </a:rPr>
              <a:t> </a:t>
            </a:r>
            <a:r>
              <a:rPr sz="1076" b="0" dirty="0">
                <a:solidFill>
                  <a:srgbClr val="2C3E50"/>
                </a:solidFill>
              </a:rPr>
              <a:t>Inquiry(OPEN,RESOLVED,CLOSED)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57748" y="3905249"/>
            <a:ext cx="5914877" cy="323849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>
                <a:solidFill>
                  <a:srgbClr val="2E7D32"/>
                </a:solidFill>
              </a:rPr>
              <a:t>Timestamps:</a:t>
            </a:r>
            <a:r>
              <a:rPr sz="1196" b="0">
                <a:solidFill>
                  <a:srgbClr val="2C3E50"/>
                </a:solidFill>
              </a:rPr>
              <a:t> created_at, updated_at; server-generated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57748" y="4371975"/>
            <a:ext cx="5914877" cy="323849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>
                <a:solidFill>
                  <a:srgbClr val="2E7D32"/>
                </a:solidFill>
              </a:rPr>
              <a:t>FK rules:</a:t>
            </a:r>
            <a:r>
              <a:rPr sz="1196" b="0">
                <a:solidFill>
                  <a:srgbClr val="2C3E50"/>
                </a:solidFill>
              </a:rPr>
              <a:t> ON UPDATE CASCADE; deletes restricted if historical data exists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57748" y="4848225"/>
            <a:ext cx="5914877" cy="447675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196" b="1">
                <a:solidFill>
                  <a:srgbClr val="2E7D32"/>
                </a:solidFill>
              </a:rPr>
              <a:t>Indexes:</a:t>
            </a:r>
            <a:r>
              <a:rPr sz="1196" b="0">
                <a:solidFill>
                  <a:srgbClr val="2C3E50"/>
                </a:solidFill>
              </a:rPr>
              <a:t> </a:t>
            </a:r>
            <a:r>
              <a:rPr sz="1076" b="0">
                <a:solidFill>
                  <a:srgbClr val="2C3E50"/>
                </a:solidFill>
              </a:rPr>
              <a:t>users.email (unique), donations.status, donations.created_at, notifications.user_id,is_read, feedback.donation_id, ngo.name</a:t>
            </a:r>
          </a:p>
        </p:txBody>
      </p:sp>
    </p:spTree>
    <p:extLst>
      <p:ext uri="{BB962C8B-B14F-4D97-AF65-F5344CB8AC3E}">
        <p14:creationId xmlns:p14="http://schemas.microsoft.com/office/powerpoint/2010/main" val="255201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9598" y="523874"/>
            <a:ext cx="2515047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r>
              <a:rPr lang="en-US" sz="2392" b="1" dirty="0" smtClean="0">
                <a:solidFill>
                  <a:srgbClr val="FFFFFF"/>
                </a:solidFill>
              </a:rPr>
              <a:t>Sequence Diagram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933" y="1255583"/>
            <a:ext cx="10058400" cy="542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9598" y="523874"/>
            <a:ext cx="2132187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r>
              <a:rPr lang="en-US" sz="2392" b="1" dirty="0">
                <a:solidFill>
                  <a:srgbClr val="FFFFFF"/>
                </a:solidFill>
              </a:rPr>
              <a:t>Design </a:t>
            </a:r>
            <a:r>
              <a:rPr lang="en-US" sz="2392" b="1" dirty="0" smtClean="0">
                <a:solidFill>
                  <a:srgbClr val="FFFFFF"/>
                </a:solidFill>
              </a:rPr>
              <a:t>Patterns</a:t>
            </a:r>
            <a:endParaRPr lang="en-US" sz="2392" b="1" dirty="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66733" y="2057418"/>
            <a:ext cx="5314817" cy="3047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4852" y="2295542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8199" y="2436219"/>
            <a:ext cx="304792" cy="2901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19209" y="2419368"/>
            <a:ext cx="1609684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2E7D32"/>
                </a:solidFill>
              </a:rPr>
              <a:t>Builder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52" y="3009917"/>
            <a:ext cx="4838579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333333"/>
                </a:solidFill>
              </a:rPr>
              <a:t>Creates complex objects step by step, allowing flexibility in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52" y="3686193"/>
            <a:ext cx="483857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546E7A"/>
                </a:solidFill>
              </a:rPr>
              <a:t>Usage in AnnaMitra: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852" y="3981468"/>
            <a:ext cx="4838579" cy="885825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27980" y="4358340"/>
            <a:ext cx="8858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99" y="3981468"/>
            <a:ext cx="4838579" cy="8858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333333"/>
                </a:solidFill>
              </a:rPr>
              <a:t>Building donation forms with multiple optional fields (food type, quantity, expiry time, pickup address) before creating the final donation object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4" y="2057418"/>
            <a:ext cx="5314817" cy="3047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57788" y="2295542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1135" y="2437685"/>
            <a:ext cx="304792" cy="28721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62620" y="2419368"/>
            <a:ext cx="189542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2E7D32"/>
                </a:solidFill>
              </a:rPr>
              <a:t>Prototype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7788" y="3009917"/>
            <a:ext cx="4838579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333333"/>
                </a:solidFill>
              </a:rPr>
              <a:t>Creates new objects by copying existing ones instead of creating from scratch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7788" y="3686193"/>
            <a:ext cx="483857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546E7A"/>
                </a:solidFill>
              </a:rPr>
              <a:t>Usage in AnnaMitra: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57788" y="3981468"/>
            <a:ext cx="4838579" cy="885825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6080916" y="4358340"/>
            <a:ext cx="8858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4700" y="3981468"/>
            <a:ext cx="4838579" cy="8858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333333"/>
                </a:solidFill>
              </a:rPr>
              <a:t>When a donor wants to "repeat" or "clone" a previous donation entry — system duplicates old donation data and allows modification of small details (like pickup time)</a:t>
            </a:r>
          </a:p>
        </p:txBody>
      </p:sp>
    </p:spTree>
    <p:extLst>
      <p:ext uri="{BB962C8B-B14F-4D97-AF65-F5344CB8AC3E}">
        <p14:creationId xmlns:p14="http://schemas.microsoft.com/office/powerpoint/2010/main" val="294035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9598" y="523874"/>
            <a:ext cx="2132187" cy="4789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r>
              <a:rPr lang="en-US" sz="2392" b="1" dirty="0">
                <a:solidFill>
                  <a:srgbClr val="FFFFFF"/>
                </a:solidFill>
              </a:rPr>
              <a:t>Design </a:t>
            </a:r>
            <a:r>
              <a:rPr lang="en-US" sz="2392" b="1" dirty="0" smtClean="0">
                <a:solidFill>
                  <a:srgbClr val="FFFFFF"/>
                </a:solidFill>
              </a:rPr>
              <a:t>Patterns</a:t>
            </a:r>
            <a:endParaRPr lang="en-US" sz="2392" b="1" dirty="0">
              <a:solidFill>
                <a:srgbClr val="FFFFFF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7460" y="2053551"/>
            <a:ext cx="5314817" cy="3047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95579" y="22916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28926" y="2483641"/>
            <a:ext cx="304792" cy="18756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09936" y="2425026"/>
            <a:ext cx="1581110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2E7D32"/>
                </a:solidFill>
              </a:rPr>
              <a:t>Facade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579" y="3006050"/>
            <a:ext cx="4838579" cy="5333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333333"/>
                </a:solidFill>
              </a:rPr>
              <a:t>Provides a simplified interface to complex subsystems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579" y="3682326"/>
            <a:ext cx="483857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546E7A"/>
                </a:solidFill>
              </a:rPr>
              <a:t>Usage in AnnaMitra: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579" y="3977600"/>
            <a:ext cx="4838579" cy="885825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18707" y="4354472"/>
            <a:ext cx="8858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28926" y="3977600"/>
            <a:ext cx="4838579" cy="8858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333333"/>
                </a:solidFill>
              </a:rPr>
              <a:t>Backend services like </a:t>
            </a:r>
            <a:r>
              <a:rPr sz="1076" b="0" dirty="0" err="1">
                <a:solidFill>
                  <a:srgbClr val="333333"/>
                </a:solidFill>
              </a:rPr>
              <a:t>NotificationService</a:t>
            </a:r>
            <a:r>
              <a:rPr sz="1076" b="0" dirty="0">
                <a:solidFill>
                  <a:srgbClr val="333333"/>
                </a:solidFill>
              </a:rPr>
              <a:t> that hide complexity of sending emails, in-app alerts, and database updates through a single unified interface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0395" y="2040936"/>
            <a:ext cx="5314817" cy="3047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48515" y="22916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862" y="2449937"/>
            <a:ext cx="304792" cy="2549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153347" y="2425026"/>
            <a:ext cx="1809704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2E7D32"/>
                </a:solidFill>
              </a:rPr>
              <a:t>Observer Pattern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8515" y="3006050"/>
            <a:ext cx="4838579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333333"/>
                </a:solidFill>
              </a:rPr>
              <a:t>Defines one-to-many relationship for automatic notifications when state changes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8515" y="3682326"/>
            <a:ext cx="4838579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546E7A"/>
                </a:solidFill>
              </a:rPr>
              <a:t>Usage in AnnaMitra: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8515" y="3977600"/>
            <a:ext cx="4838579" cy="885825"/>
          </a:xfrm>
          <a:prstGeom prst="roundRect">
            <a:avLst>
              <a:gd name="adj" fmla="val 12903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6071643" y="4354472"/>
            <a:ext cx="8858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0596" y="3977599"/>
            <a:ext cx="4838579" cy="8858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333333"/>
                </a:solidFill>
              </a:rPr>
              <a:t>When a donor updates donation status or NGO accepts a request, all related users (volunteers, NGOs, donors) receive real-time updates automatically</a:t>
            </a:r>
          </a:p>
        </p:txBody>
      </p:sp>
    </p:spTree>
    <p:extLst>
      <p:ext uri="{BB962C8B-B14F-4D97-AF65-F5344CB8AC3E}">
        <p14:creationId xmlns:p14="http://schemas.microsoft.com/office/powerpoint/2010/main" val="1149386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8788" y="51614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5827" y="1647825"/>
            <a:ext cx="409564" cy="952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6500"/>
              </a:lnSpc>
              <a:spcBef>
                <a:spcPts val="0"/>
              </a:spcBef>
              <a:spcAft>
                <a:spcPts val="1300"/>
              </a:spcAft>
            </a:pPr>
            <a:r>
              <a:rPr sz="5980" b="0">
                <a:solidFill>
                  <a:srgbClr val="2E7D32"/>
                </a:solidFill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5072" y="2790824"/>
            <a:ext cx="599107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1950"/>
              </a:spcAft>
            </a:pPr>
            <a:r>
              <a:rPr sz="1674" b="0">
                <a:solidFill>
                  <a:srgbClr val="333333"/>
                </a:solidFill>
              </a:rPr>
              <a:t>Alone we can do so little; together we can do so much.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1015" y="3448049"/>
            <a:ext cx="141918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600"/>
              </a:spcAft>
            </a:pPr>
            <a:r>
              <a:rPr sz="1315" b="1">
                <a:solidFill>
                  <a:srgbClr val="2E7D32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2E7D32"/>
                </a:solidFill>
              </a:rPr>
              <a:t> Helen Keller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91015" y="3498532"/>
            <a:ext cx="228594" cy="16573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524361" y="4286250"/>
            <a:ext cx="1142971" cy="38100"/>
          </a:xfrm>
          <a:prstGeom prst="roundRect">
            <a:avLst>
              <a:gd name="adj" fmla="val 10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62400" y="4705350"/>
            <a:ext cx="2257368" cy="6000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1300"/>
              </a:spcBef>
              <a:spcAft>
                <a:spcPts val="0"/>
              </a:spcAft>
            </a:pPr>
            <a:r>
              <a:rPr sz="2990" b="1">
                <a:solidFill>
                  <a:srgbClr val="2E7D32"/>
                </a:solidFill>
              </a:rPr>
              <a:t>Thank You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05252" y="5591175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7173" y="5779704"/>
            <a:ext cx="342891" cy="28969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62480" y="5591175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4401" y="5779704"/>
            <a:ext cx="342891" cy="28969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619709" y="5591175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81630" y="5818132"/>
            <a:ext cx="342891" cy="2128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486</Words>
  <Application>Microsoft Office PowerPoint</Application>
  <PresentationFormat>Custom</PresentationFormat>
  <Paragraphs>83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 Prajapati</dc:creator>
  <dc:description>generated using python-pptx</dc:description>
  <cp:lastModifiedBy>admin</cp:lastModifiedBy>
  <cp:revision>10</cp:revision>
  <dcterms:created xsi:type="dcterms:W3CDTF">2013-01-27T09:14:16Z</dcterms:created>
  <dcterms:modified xsi:type="dcterms:W3CDTF">2025-11-09T19:14:55Z</dcterms:modified>
</cp:coreProperties>
</file>